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[OPEN-001] Notes du présentateur
Durée: 2 minutes.
Sources: Aucune affirmation externe sur le produit dans cette diapositive.
Transition: Relier ce concept au prochain flux de travail et demander un exemple concret.
Préalables de la démonstration en direct: Client à jour, compte sous licence authentifié, stratégie permissive et données fictives du dépôt.
Solution de rechange: Si la surface du produit n'est pas accessible, utiliser le visuel de cette diapositive et la simulation du laboratoire.
Action attendue des participants: Demander aux participants de nommer la décision, la preuve ou la limite à conserver.
Récupération: Faire une pause, reformuler la limite et revenir à la dernière source vérifiée ou au dernier contrôle réussi.
Lien: aucun.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[OPEN-002] Notes du présentateur
Durée: 3 minutes.
Sources: Aucune affirmation externe sur le produit dans cette diapositive.
Transition: Relier ce concept au prochain flux de travail et demander un exemple concret.
Préalables de la démonstration en direct: Client à jour, compte sous licence authentifié, stratégie permissive et données fictives du dépôt.
Solution de rechange: Si la surface du produit n'est pas accessible, utiliser le visuel de cette diapositive et la simulation du laboratoire.
Action attendue des participants: Demander aux participants de nommer la décision, la preuve ou la limite à conserver.
Récupération: Faire une pause, reformuler la limite et revenir à la dernière source vérifiée ou au dernier contrôle réussi.
Lien: aucun.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[OPEN-003] Notes du présentateur
Durée: 3 minutes.
Sources: Aucune affirmation externe sur le produit dans cette diapositive.
Transition: Relier ce concept au prochain flux de travail et demander un exemple concret.
Préalables de la démonstration en direct: Client à jour, compte sous licence authentifié, stratégie permissive et données fictives du dépôt.
Solution de rechange: Si la surface du produit n'est pas accessible, utiliser le visuel de cette diapositive et la simulation du laboratoire.
Action attendue des participants: Demander aux participants de nommer la décision, la preuve ou la limite à conserver.
Récupération: Faire une pause, reformuler la limite et revenir à la dernière source vérifiée ou au dernier contrôle réussi.
Lien: aucun.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[OPEN-004] Notes du présentateur
Durée: 4 minutes.
Sources: E07 - The IDE quickstart requires a plan, extension, and authenticated IDE.
Transition: Relier ce concept au prochain flux de travail et demander un exemple concret.
Préalables de la démonstration en direct: Client à jour, compte sous licence authentifié, stratégie permissive et données fictives du dépôt.
Solution de rechange: Si la surface du produit n'est pas accessible, utiliser le visuel de cette diapositive et la simulation du laboratoire.
Action attendue des participants: Demander aux participants de nommer la décision, la preuve ou la limite à conserver.
Récupération: Faire une pause, reformuler la limite et revenir à la dernière source vérifiée ou au dernier contrôle réussi.
Lien: https://devopsabcs-engineering.github.io/github-copilot-business-labs/lab/fr/#lab-00.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[MBOUND-001] Notes du présentateur
Durée: 4 minutes.
Sources: E01 - Business is the centrally managed organization plan. E02 - Enterprise requires GitHub Enterprise Cloud and includes Business features. E03 - Published plan prices and AI-credit allowances are dated commercial facts. E05 - Copilot is not currently available for GitHub Enterprise Server.
Transition: Relier ce concept au prochain flux de travail et demander un exemple concret.
Préalables de la démonstration en direct: Client à jour, compte sous licence authentifié, stratégie permissive et données fictives du dépôt.
Solution de rechange: Si la surface du produit n'est pas accessible, utiliser le visuel de cette diapositive et la simulation du laboratoire.
Action attendue des participants: Demander aux participants de nommer la décision, la preuve ou la limite à conserver.
Récupération: Faire une pause, reformuler la limite et revenir à la dernière source vérifiée ou au dernier contrôle réussi.
Lien: aucun.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[MBOUND-002] Notes du présentateur
Durée: 5 minutes.
Sources: Aucune affirmation externe sur le produit dans cette diapositive.
Transition: Relier ce concept au prochain flux de travail et demander un exemple concret.
Préalables de la démonstration en direct: Client à jour, compte sous licence authentifié, stratégie permissive et données fictives du dépôt.
Solution de rechange: Si la surface du produit n'est pas accessible, utiliser le visuel de cette diapositive et la simulation du laboratoire.
Action attendue des participants: Demander aux participants de nommer la décision, la preuve ou la limite à conserver.
Récupération: Faire une pause, reformuler la limite et revenir à la dernière source vérifiée ou au dernier contrôle réussi.
Lien: https://devopsabcs-engineering.github.io/github-copilot-business-labs/lab/fr/#lab-00.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[RESP-001] Notes du présentateur
Durée: 5 minutes.
Sources: E41 - Responsible use requires understanding purpose, capability, and limitations. E42 - Agentic output can be incorrect or insecure and requires review and testing.
Transition: Relier ce concept au prochain flux de travail et demander un exemple concret.
Préalables de la démonstration en direct: Client à jour, compte sous licence authentifié, stratégie permissive et données fictives du dépôt.
Solution de rechange: Si la surface du produit n'est pas accessible, utiliser le visuel de cette diapositive et la simulation du laboratoire.
Action attendue des participants: Demander aux participants de nommer la décision, la preuve ou la limite à conserver.
Récupération: Faire une pause, reformuler la limite et revenir à la dernière source vérifiée ou au dernier contrôle réussi.
Lien: https://devopsabcs-engineering.github.io/github-copilot-business-labs/lab/fr/#lab-01.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[RESP-002] Notes du présentateur
Durée: 6 minutes.
Sources: Aucune affirmation externe sur le produit dans cette diapositive.
Transition: Relier ce concept au prochain flux de travail et demander un exemple concret.
Préalables de la démonstration en direct: Client à jour, compte sous licence authentifié, stratégie permissive et données fictives du dépôt.
Solution de rechange: Si la surface du produit n'est pas accessible, utiliser le visuel de cette diapositive et la simulation du laboratoire.
Action attendue des participants: Demander aux participants de nommer la décision, la preuve ou la limite à conserver.
Récupération: Faire une pause, reformuler la limite et revenir à la dernière source vérifiée ou au dernier contrôle réussi.
Lien: https://devopsabcs-engineering.github.io/github-copilot-business-labs/lab/fr/#lab-01.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[FLOW-001] Notes du présentateur
Durée: 5 minutes.
Sources: E08 - Agent mode can choose files, make edits, and run commands subject to approval. E09 - The cloud agent works asynchronously and delivers pull-request evidence.
Transition: Relier ce concept au prochain flux de travail et demander un exemple concret.
Préalables de la démonstration en direct: Client à jour, compte sous licence authentifié, stratégie permissive et données fictives du dépôt.
Solution de rechange: Si la surface du produit n'est pas accessible, utiliser le visuel de cette diapositive et la simulation du laboratoire.
Action attendue des participants: Demander aux participants de nommer la décision, la preuve ou la limite à conserver.
Récupération: Faire une pause, reformuler la limite et revenir à la dernière source vérifiée ou au dernier contrôle réussi.
Lien: aucun.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[FLOW-002] Notes du présentateur
Durée: 5 minutes.
Sources: Aucune affirmation externe sur le produit dans cette diapositive.
Transition: Relier ce concept au prochain flux de travail et demander un exemple concret.
Préalables de la démonstration en direct: Client à jour, compte sous licence authentifié, stratégie permissive et données fictives du dépôt.
Solution de rechange: Si la surface du produit n'est pas accessible, utiliser le visuel de cette diapositive et la simulation du laboratoire.
Action attendue des participants: Demander aux participants de nommer la décision, la preuve ou la limite à conserver.
Récupération: Faire une pause, reformuler la limite et revenir à la dernière source vérifiée ou au dernier contrôle réussi.
Lien: https://devopsabcs-engineering.github.io/github-copilot-business-labs/lab/fr/#lab-02.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[FLOW-003] Notes du présentateur
Durée: 5 minutes.
Sources: Aucune affirmation externe sur le produit dans cette diapositive.
Transition: Relier ce concept au prochain flux de travail et demander un exemple concret.
Préalables de la démonstration en direct: Client à jour, compte sous licence authentifié, stratégie permissive et données fictives du dépôt.
Solution de rechange: Si la surface du produit n'est pas accessible, utiliser le visuel de cette diapositive et la simulation du laboratoire.
Action attendue des participants: Demander aux participants de nommer la décision, la preuve ou la limite à conserver.
Récupération: Faire une pause, reformuler la limite et revenir à la dernière source vérifiée ou au dernier contrôle réussi.
Lien: https://devopsabcs-engineering.github.io/github-copilot-business-labs/lab/fr/#lab-02.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[FLOW-004] Notes du présentateur
Durée: 5 minutes.
Sources: Aucune affirmation externe sur le produit dans cette diapositive.
Transition: Relier ce concept au prochain flux de travail et demander un exemple concret.
Préalables de la démonstration en direct: Client à jour, compte sous licence authentifié, stratégie permissive et données fictives du dépôt.
Solution de rechange: Si la surface du produit n'est pas accessible, utiliser le visuel de cette diapositive et la simulation du laboratoire.
Action attendue des participants: Demander aux participants de nommer la décision, la preuve ou la limite à conserver.
Récupération: Faire une pause, reformuler la limite et revenir à la dernière source vérifiée ou au dernier contrôle réussi.
Lien: https://devopsabcs-engineering.github.io/github-copilot-business-labs/lab/fr/#lab-03.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[FLOW-005] Notes du présentateur
Durée: 6 minutes.
Sources: E08 - Agent mode can choose files, make edits, and run commands subject to approval. E42 - Agentic output can be incorrect or insecure and requires review and testing.
Transition: Relier ce concept au prochain flux de travail et demander un exemple concret.
Préalables de la démonstration en direct: Client à jour, compte sous licence authentifié, stratégie permissive et données fictives du dépôt.
Solution de rechange: Si la surface du produit n'est pas accessible, utiliser le visuel de cette diapositive et la simulation du laboratoire.
Action attendue des participants: Demander aux participants de nommer la décision, la preuve ou la limite à conserver.
Récupération: Faire une pause, reformuler la limite et revenir à la dernière source vérifiée ou au dernier contrôle réussi.
Lien: https://devopsabcs-engineering.github.io/github-copilot-business-labs/lab/fr/#lab-06.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[FLOW-006] Notes du présentateur
Durée: 6 minutes.
Sources: E09 - The cloud agent works asynchronously and delivers pull-request evidence. E10 - Cloud-agent repository, branch, pull-request, and duration limits are dated facts. E11 - Cloud-agent output requires human review and constrained permissions.
Transition: Relier ce concept au prochain flux de travail et demander un exemple concret.
Préalables de la démonstration en direct: Client à jour, compte sous licence authentifié, stratégie permissive et données fictives du dépôt.
Solution de rechange: Si la surface du produit n'est pas accessible, utiliser le visuel de cette diapositive et la simulation du laboratoire.
Action attendue des participants: Demander aux participants de nommer la décision, la preuve ou la limite à conserver.
Récupération: Faire une pause, reformuler la limite et revenir à la dernière source vérifiée ou au dernier contrôle réussi.
Lien: https://devopsabcs-engineering.github.io/github-copilot-business-labs/lab/fr/#lab-07.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[FLOW-007] Notes du présentateur
Durée: 5 minutes.
Sources: E11 - Cloud-agent output requires human review and constrained permissions. E42 - Agentic output can be incorrect or insecure and requires review and testing.
Transition: Relier ce concept au prochain flux de travail et demander un exemple concret.
Préalables de la démonstration en direct: Client à jour, compte sous licence authentifié, stratégie permissive et données fictives du dépôt.
Solution de rechange: Si la surface du produit n'est pas accessible, utiliser le visuel de cette diapositive et la simulation du laboratoire.
Action attendue des participants: Demander aux participants de nommer la décision, la preuve ou la limite à conserver.
Récupération: Faire une pause, reformuler la limite et revenir à la dernière source vérifiée ou au dernier contrôle réussi.
Lien: https://devopsabcs-engineering.github.io/github-copilot-business-labs/lab/fr/#lab-07.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[CUSTOM-001] Notes du présentateur
Durée: 6 minutes.
Sources: E16 - Customization mechanisms have distinct triggers and locations. E17 - Agent skills are folders loaded on demand and follow an open standard. E18 - MCP connects Copilot to external context and tools across supported surfaces.
Transition: Relier ce concept au prochain flux de travail et demander un exemple concret.
Préalables de la démonstration en direct: Client à jour, compte sous licence authentifié, stratégie permissive et données fictives du dépôt.
Solution de rechange: Si la surface du produit n'est pas accessible, utiliser le visuel de cette diapositive et la simulation du laboratoire.
Action attendue des participants: Demander aux participants de nommer la décision, la preuve ou la limite à conserver.
Récupération: Faire une pause, reformuler la limite et revenir à la dernière source vérifiée ou au dernier contrôle réussi.
Lien: https://devopsabcs-engineering.github.io/github-copilot-business-labs/lab/fr/#lab-06.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[CUSTOM-002] Notes du présentateur
Durée: 5 minutes.
Sources: E16 - Customization mechanisms have distinct triggers and locations.
Transition: Relier ce concept au prochain flux de travail et demander un exemple concret.
Préalables de la démonstration en direct: Client à jour, compte sous licence authentifié, stratégie permissive et données fictives du dépôt.
Solution de rechange: Si la surface du produit n'est pas accessible, utiliser le visuel de cette diapositive et la simulation du laboratoire.
Action attendue des participants: Demander aux participants de nommer la décision, la preuve ou la limite à conserver.
Récupération: Faire une pause, reformuler la limite et revenir à la dernière source vérifiée ou au dernier contrôle réussi.
Lien: https://devopsabcs-engineering.github.io/github-copilot-business-labs/lab/fr/#lab-06.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[CUSTOM-003] Notes du présentateur
Durée: 5 minutes.
Sources: E16 - Customization mechanisms have distinct triggers and locations. E17 - Agent skills are folders loaded on demand and follow an open standard.
Transition: Relier ce concept au prochain flux de travail et demander un exemple concret.
Préalables de la démonstration en direct: Client à jour, compte sous licence authentifié, stratégie permissive et données fictives du dépôt.
Solution de rechange: Si la surface du produit n'est pas accessible, utiliser le visuel de cette diapositive et la simulation du laboratoire.
Action attendue des participants: Demander aux participants de nommer la décision, la preuve ou la limite à conserver.
Récupération: Faire une pause, reformuler la limite et revenir à la dernière source vérifiée ou au dernier contrôle réussi.
Lien: https://devopsabcs-engineering.github.io/github-copilot-business-labs/lab/fr/#lab-06.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[CUSTOM-004] Notes du présentateur
Durée: 6 minutes.
Sources: E18 - MCP connects Copilot to external context and tools across supported surfaces. E19 - Managed MCP policy defaults and subscription boundaries are volatile.
Transition: Relier ce concept au prochain flux de travail et demander un exemple concret.
Préalables de la démonstration en direct: Client à jour, compte sous licence authentifié, stratégie permissive et données fictives du dépôt.
Solution de rechange: Si la surface du produit n'est pas accessible, utiliser le visuel de cette diapositive et la simulation du laboratoire.
Action attendue des participants: Demander aux participants de nommer la décision, la preuve ou la limite à conserver.
Récupération: Faire une pause, reformuler la limite et revenir à la dernière source vérifiée ou au dernier contrôle réussi.
Lien: https://devopsabcs-engineering.github.io/github-copilot-business-labs/lab/fr/#lab-06.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[CUSTOM-005] Notes du présentateur
Durée: 5 minutes.
Sources: E12 - Model availability depends on plan and client and changes over time. E13 - Automatic model selection is dynamic and considers service conditions. E14 - Chat model selection does not control inline-suggestion models. E15 - Organization policy governs model switching and bring-your-own-key use.
Transition: Relier ce concept au prochain flux de travail et demander un exemple concret.
Préalables de la démonstration en direct: Client à jour, compte sous licence authentifié, stratégie permissive et données fictives du dépôt.
Solution de rechange: Si la surface du produit n'est pas accessible, utiliser le visuel de cette diapositive et la simulation du laboratoire.
Action attendue des participants: Demander aux participants de nommer la décision, la preuve ou la limite à conserver.
Récupération: Faire une pause, reformuler la limite et revenir à la dernière source vérifiée ou au dernier contrôle réussi.
Lien: aucun.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[ADOPT-001] Notes du présentateur
Durée: 6 minutes.
Sources: E19 - Managed MCP policy defaults and subscription boundaries are volatile. E20 - Seat management, not usage metrics, is the license source of truth. E30 - Preview features can change or be discontinued. E36 - Seat billing begins when access is granted and mid-cycle grants are prorated. E37 - Organizations support multiple documented seat-assignment workflows. E38 - Enterprise policy spans agents, models, billing, privacy, features, and MCP. E40 - AI-credit conversion and paid usage are token-, model-, and policy-sensitive.
Transition: Relier ce concept au prochain flux de travail et demander un exemple concret.
Préalables de la démonstration en direct: Client à jour, compte sous licence authentifié, stratégie permissive et données fictives du dépôt.
Solution de rechange: Si la surface du produit n'est pas accessible, utiliser le visuel de cette diapositive et la simulation du laboratoire.
Action attendue des participants: Demander aux participants de nommer la décision, la preuve ou la limite à conserver.
Récupération: Faire une pause, reformuler la limite et revenir à la dernière source vérifiée ou au dernier contrôle réussi.
Lien: aucun.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[ADOPT-002] Notes du présentateur
Durée: 6 minutes.
Sources: E23 - Content exclusion is not supported in every editor mode. E39 - Content exclusion has mode, semantic, symlink, and remote-filesystem limitations.
Transition: Relier ce concept au prochain flux de travail et demander un exemple concret.
Préalables de la démonstration en direct: Client à jour, compte sous licence authentifié, stratégie permissive et données fictives du dépôt.
Solution de rechange: Si la surface du produit n'est pas accessible, utiliser le visuel de cette diapositive et la simulation du laboratoire.
Action attendue des participants: Demander aux participants de nommer la décision, la preuve ou la limite à conserver.
Récupération: Faire une pause, reformuler la limite et revenir à la dernière source vérifiée ou au dernier contrôle réussi.
Lien: https://devopsabcs-engineering.github.io/github-copilot-business-labs/lab/fr/#lab-05.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[ADOPT-003] Notes du présentateur
Durée: 6 minutes.
Sources: E20 - Seat management, not usage metrics, is the license source of truth. E21 - Usage metrics cover some Copilot surfaces and exclude others. E22 - Usage metrics can lag and require careful organization attribution. E31 - Metrics accuracy can depend on current IDE and extension versions.
Transition: Relier ce concept au prochain flux de travail et demander un exemple concret.
Préalables de la démonstration en direct: Client à jour, compte sous licence authentifié, stratégie permissive et données fictives du dépôt.
Solution de rechange: Si la surface du produit n'est pas accessible, utiliser le visuel de cette diapositive et la simulation du laboratoire.
Action attendue des participants: Demander aux participants de nommer la décision, la preuve ou la limite à conserver.
Récupération: Faire une pause, reformuler la limite et revenir à la dernière source vérifiée ou au dernier contrôle réussi.
Lien: https://devopsabcs-engineering.github.io/github-copilot-business-labs/lab/fr/#lab-07.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[LAB-00] Notes du présentateur
Durée: 15 minutes.
Sources: Aucune affirmation externe sur le produit dans cette diapositive.
Transition: Relier ce concept au prochain flux de travail et demander un exemple concret.
Préalables de la démonstration en direct: Client à jour, compte sous licence authentifié, stratégie permissive et données fictives du dépôt.
Solution de rechange: Si la surface du produit n'est pas accessible, utiliser le visuel de cette diapositive et la simulation du laboratoire.
Action attendue des participants: Demander aux participants de nommer la décision, la preuve ou la limite à conserver.
Récupération: Faire une pause, reformuler la limite et revenir à la dernière source vérifiée ou au dernier contrôle réussi.
Lien: https://devopsabcs-engineering.github.io/github-copilot-business-labs/lab/fr/#lab-00.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[LAB-01] Notes du présentateur
Durée: 20 minutes.
Sources: Aucune affirmation externe sur le produit dans cette diapositive.
Transition: Relier ce concept au prochain flux de travail et demander un exemple concret.
Préalables de la démonstration en direct: Client à jour, compte sous licence authentifié, stratégie permissive et données fictives du dépôt.
Solution de rechange: Si la surface du produit n'est pas accessible, utiliser le visuel de cette diapositive et la simulation du laboratoire.
Action attendue des participants: Demander aux participants de nommer la décision, la preuve ou la limite à conserver.
Récupération: Faire une pause, reformuler la limite et revenir à la dernière source vérifiée ou au dernier contrôle réussi.
Lien: https://devopsabcs-engineering.github.io/github-copilot-business-labs/lab/fr/#lab-01.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[LAB-02] Notes du présentateur
Durée: 20 minutes.
Sources: Aucune affirmation externe sur le produit dans cette diapositive.
Transition: Relier ce concept au prochain flux de travail et demander un exemple concret.
Préalables de la démonstration en direct: Client à jour, compte sous licence authentifié, stratégie permissive et données fictives du dépôt.
Solution de rechange: Si la surface du produit n'est pas accessible, utiliser le visuel de cette diapositive et la simulation du laboratoire.
Action attendue des participants: Demander aux participants de nommer la décision, la preuve ou la limite à conserver.
Récupération: Faire une pause, reformuler la limite et revenir à la dernière source vérifiée ou au dernier contrôle réussi.
Lien: https://devopsabcs-engineering.github.io/github-copilot-business-labs/lab/fr/#lab-02.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[LAB-03] Notes du présentateur
Durée: 25 minutes.
Sources: Aucune affirmation externe sur le produit dans cette diapositive.
Transition: Relier ce concept au prochain flux de travail et demander un exemple concret.
Préalables de la démonstration en direct: Client à jour, compte sous licence authentifié, stratégie permissive et données fictives du dépôt.
Solution de rechange: Si la surface du produit n'est pas accessible, utiliser le visuel de cette diapositive et la simulation du laboratoire.
Action attendue des participants: Demander aux participants de nommer la décision, la preuve ou la limite à conserver.
Récupération: Faire une pause, reformuler la limite et revenir à la dernière source vérifiée ou au dernier contrôle réussi.
Lien: https://devopsabcs-engineering.github.io/github-copilot-business-labs/lab/fr/#lab-03.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[LAB-04] Notes du présentateur
Durée: 25 minutes.
Sources: Aucune affirmation externe sur le produit dans cette diapositive.
Transition: Relier ce concept au prochain flux de travail et demander un exemple concret.
Préalables de la démonstration en direct: Client à jour, compte sous licence authentifié, stratégie permissive et données fictives du dépôt.
Solution de rechange: Si la surface du produit n'est pas accessible, utiliser le visuel de cette diapositive et la simulation du laboratoire.
Action attendue des participants: Demander aux participants de nommer la décision, la preuve ou la limite à conserver.
Récupération: Faire une pause, reformuler la limite et revenir à la dernière source vérifiée ou au dernier contrôle réussi.
Lien: https://devopsabcs-engineering.github.io/github-copilot-business-labs/lab/fr/#lab-04.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[LAB-05] Notes du présentateur
Durée: 25 minutes.
Sources: E24 - GitHub does not own customer inputs or outputs under the cited terms. E25 - GitHub-direct volume terms limit model training absent documented instruction. E26 - Retention is service-specific; no exact duration is asserted.
Transition: Relier ce concept au prochain flux de travail et demander un exemple concret.
Préalables de la démonstration en direct: Client à jour, compte sous licence authentifié, stratégie permissive et données fictives du dépôt.
Solution de rechange: Si la surface du produit n'est pas accessible, utiliser le visuel de cette diapositive et la simulation du laboratoire.
Action attendue des participants: Demander aux participants de nommer la décision, la preuve ou la limite à conserver.
Récupération: Faire une pause, reformuler la limite et revenir à la dernière source vérifiée ou au dernier contrôle réussi.
Lien: https://devopsabcs-engineering.github.io/github-copilot-business-labs/lab/fr/#lab-05.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[LAB-06] Notes du présentateur
Durée: 30 minutes.
Sources: E08 - Agent mode can choose files, make edits, and run commands subject to approval. E42 - Agentic output can be incorrect or insecure and requires review and testing.
Transition: Relier ce concept au prochain flux de travail et demander un exemple concret.
Préalables de la démonstration en direct: Client à jour, compte sous licence authentifié, stratégie permissive et données fictives du dépôt.
Solution de rechange: Si la surface du produit n'est pas accessible, utiliser le visuel de cette diapositive et la simulation du laboratoire.
Action attendue des participants: Demander aux participants de nommer la décision, la preuve ou la limite à conserver.
Récupération: Faire une pause, reformuler la limite et revenir à la dernière source vérifiée ou au dernier contrôle réussi.
Lien: https://devopsabcs-engineering.github.io/github-copilot-business-labs/lab/fr/#lab-06.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[LAB-07] Notes du présentateur
Durée: 30 minutes.
Sources: E09 - The cloud agent works asynchronously and delivers pull-request evidence. E11 - Cloud-agent output requires human review and constrained permissions. E22 - Usage metrics can lag and require careful organization attribution.
Transition: Relier ce concept au prochain flux de travail et demander un exemple concret.
Préalables de la démonstration en direct: Client à jour, compte sous licence authentifié, stratégie permissive et données fictives du dépôt.
Solution de rechange: Si la surface du produit n'est pas accessible, utiliser le visuel de cette diapositive et la simulation du laboratoire.
Action attendue des participants: Demander aux participants de nommer la décision, la preuve ou la limite à conserver.
Récupération: Faire une pause, reformuler la limite et revenir à la dernière source vérifiée ou au dernier contrôle réussi.
Lien: https://devopsabcs-engineering.github.io/github-copilot-business-labs/lab/fr/#lab-07.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[LAB-CAP] Notes du présentateur
Durée: 35 minutes.
Sources: Aucune affirmation externe sur le produit dans cette diapositive.
Transition: Relier ce concept au prochain flux de travail et demander un exemple concret.
Préalables de la démonstration en direct: Client à jour, compte sous licence authentifié, stratégie permissive et données fictives du dépôt.
Solution de rechange: Si la surface du produit n'est pas accessible, utiliser le visuel de cette diapositive et la simulation du laboratoire.
Action attendue des participants: Demander aux participants de nommer la décision, la preuve ou la limite à conserver.
Récupération: Faire une pause, reformuler la limite et revenir à la dernière source vérifiée ou au dernier contrôle réussi.
Lien: https://devopsabcs-engineering.github.io/github-copilot-business-labs/lab/fr/#lab-cap.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[APPX-001] Notes du présentateur
Durée: 3 minutes.
Sources: E03 - Published plan prices and AI-credit allowances are dated commercial facts. E04 - Overage pricing and unlimited paid-plan completions are dated billing facts. E40 - AI-credit conversion and paid usage are token-, model-, and policy-sensitive.
Transition: Relier ce concept au prochain flux de travail et demander un exemple concret.
Préalables de la démonstration en direct: Client à jour, compte sous licence authentifié, stratégie permissive et données fictives du dépôt.
Solution de rechange: Si la surface du produit n'est pas accessible, utiliser le visuel de cette diapositive et la simulation du laboratoire.
Action attendue des participants: Demander aux participants de nommer la décision, la preuve ou la limite à conserver.
Récupération: Faire une pause, reformuler la limite et revenir à la dernière source vérifiée ou au dernier contrôle réussi.
Lien: aucun.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[APPX-002] Notes du présentateur
Durée: 3 minutes.
Sources: E06 - Feature support varies by IDE and the published matrix is preview. E10 - Cloud-agent repository, branch, pull-request, and duration limits are dated facts. E12 - Model availability depends on plan and client and changes over time. E26 - Retention is service-specific; no exact duration is asserted. E30 - Preview features can change or be discontinued. E32 - Model catalogs and retirement schedules change rapidly.
Transition: Relier ce concept au prochain flux de travail et demander un exemple concret.
Préalables de la démonstration en direct: Client à jour, compte sous licence authentifié, stratégie permissive et données fictives du dépôt.
Solution de rechange: Si la surface du produit n'est pas accessible, utiliser le visuel de cette diapositive et la simulation du laboratoire.
Action attendue des participants: Demander aux participants de nommer la décision, la preuve ou la limite à conserver.
Récupération: Faire une pause, reformuler la limite et revenir à la dernière source vérifiée ou au dernier contrôle réussi.
Lien: aucun.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[APPX-003] Notes du présentateur
Durée: 3 minutes.
Sources: E20 - Seat management, not usage metrics, is the license source of truth. E21 - Usage metrics cover some Copilot surfaces and exclude others. E22 - Usage metrics can lag and require careful organization attribution. E26 - Retention is service-specific; no exact duration is asserted. E31 - Metrics accuracy can depend on current IDE and extension versions.
Transition: Relier ce concept au prochain flux de travail et demander un exemple concret.
Préalables de la démonstration en direct: Client à jour, compte sous licence authentifié, stratégie permissive et données fictives du dépôt.
Solution de rechange: Si la surface du produit n'est pas accessible, utiliser le visuel de cette diapositive et la simulation du laboratoire.
Action attendue des participants: Demander aux participants de nommer la décision, la preuve ou la limite à conserver.
Récupération: Faire une pause, reformuler la limite et revenir à la dernière source vérifiée ou au dernier contrôle réussi.
Lien: aucun.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URSE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D62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D62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devopsabcs-engineering.github.io/github-copilot-business-labs/lab/fr/#lab-00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devopsabcs-engineering.github.io/github-copilot-business-labs/lab/fr/#lab-00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devopsabcs-engineering.github.io/github-copilot-business-labs/lab/fr/#lab-01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devopsabcs-engineering.github.io/github-copilot-business-labs/lab/fr/#lab-01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devopsabcs-engineering.github.io/github-copilot-business-labs/lab/fr/#lab-02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devopsabcs-engineering.github.io/github-copilot-business-labs/lab/fr/#lab-02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devopsabcs-engineering.github.io/github-copilot-business-labs/lab/fr/#lab-03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devopsabcs-engineering.github.io/github-copilot-business-labs/lab/fr/#lab-06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devopsabcs-engineering.github.io/github-copilot-business-labs/lab/fr/#lab-07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devopsabcs-engineering.github.io/github-copilot-business-labs/lab/fr/#lab-07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devopsabcs-engineering.github.io/github-copilot-business-labs/lab/fr/#lab-06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devopsabcs-engineering.github.io/github-copilot-business-labs/lab/fr/#lab-06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https://devopsabcs-engineering.github.io/github-copilot-business-labs/lab/fr/#lab-06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hyperlink" Target="https://devopsabcs-engineering.github.io/github-copilot-business-labs/lab/fr/#lab-06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hyperlink" Target="https://devopsabcs-engineering.github.io/github-copilot-business-labs/lab/fr/#lab-05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hyperlink" Target="https://devopsabcs-engineering.github.io/github-copilot-business-labs/lab/fr/#lab-07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hyperlink" Target="https://devopsabcs-engineering.github.io/github-copilot-business-labs/lab/fr/#lab-00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hyperlink" Target="https://devopsabcs-engineering.github.io/github-copilot-business-labs/lab/fr/#lab-01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hyperlink" Target="https://devopsabcs-engineering.github.io/github-copilot-business-labs/lab/fr/#lab-02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hyperlink" Target="https://devopsabcs-engineering.github.io/github-copilot-business-labs/lab/fr/#lab-03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hyperlink" Target="https://devopsabcs-engineering.github.io/github-copilot-business-labs/lab/fr/#lab-04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hyperlink" Target="https://devopsabcs-engineering.github.io/github-copilot-business-labs/lab/fr/#lab-05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hyperlink" Target="https://devopsabcs-engineering.github.io/github-copilot-business-labs/lab/fr/#lab-06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hyperlink" Target="https://devopsabcs-engineering.github.io/github-copilot-business-labs/lab/fr/#lab-07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hyperlink" Target="https://devopsabcs-engineering.github.io/github-copilot-business-labs/lab/fr/#lab-cap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github.com/en/copilot/get-started/plans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github.com/en/copilot/reference/copilot-feature-matrix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github.com/en/copilot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" cy="6858000"/>
          </a:xfrm>
          <a:prstGeom prst="rect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68580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110" kern="0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ENTREPRISE · PREUVE · RESPONSABILITÉ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86384" y="1280160"/>
            <a:ext cx="9784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Fondamentaux de GitHub Copilot Business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886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approche axée sur la gouvernance, de l'assistance à une livraison responsable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4096512"/>
            <a:ext cx="7132320" cy="0"/>
          </a:xfrm>
          <a:prstGeom prst="line">
            <a:avLst/>
          </a:prstGeom>
          <a:noFill/>
          <a:ln w="50800">
            <a:solidFill>
              <a:srgbClr val="F0B42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370832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 du présentateur 1.0.0 | 2026-10-14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327648"/>
            <a:ext cx="10991088" cy="0"/>
          </a:xfrm>
          <a:prstGeom prst="line">
            <a:avLst/>
          </a:prstGeom>
          <a:noFill/>
          <a:ln w="12700">
            <a:solidFill>
              <a:srgbClr val="CAD6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428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OPEN-001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595360" y="64282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Français (Canada) | 2026-10-14 | 1/35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D62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Public, programme et rythme d'apprentissage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673352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627632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Développeurs, responsables techniques, administrateurs, partenaires de sécurité et responsables de l'adoption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2843784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798064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Apprendre un concept durable, le mettre en pratique dans le dépôt, puis consigner la preuve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13232" y="4014216"/>
            <a:ext cx="246888" cy="246888"/>
          </a:xfrm>
          <a:prstGeom prst="ellipse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3968496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Prévoir environ 3 heures, plus le temps facultatif pour l'agent infonuagique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69480" y="1481328"/>
            <a:ext cx="4251960" cy="4187952"/>
          </a:xfrm>
          <a:prstGeom prst="roundRect">
            <a:avLst>
              <a:gd name="adj" fmla="val 1747"/>
            </a:avLst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62088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DD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98664" y="2304288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9832" y="25054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62288" y="294436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98664" y="3236976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34381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AGIR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62288" y="387705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98664" y="4169664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43708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VÉRIFIER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4360" y="6327648"/>
            <a:ext cx="10991088" cy="0"/>
          </a:xfrm>
          <a:prstGeom prst="line">
            <a:avLst/>
          </a:prstGeom>
          <a:noFill/>
          <a:ln w="12700">
            <a:solidFill>
              <a:srgbClr val="CAD6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6428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OPEN-002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595360" y="64282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Français (Canada) | 2026-10-14 | 2/35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D62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Sept résultats, une seule piste de preuves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673352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627632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Établir la limite gérée et choisir un contexte vérifiable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2843784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798064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Utiliser délibérément les suggestions, la conversation, la modification et le mode agent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13232" y="4014216"/>
            <a:ext cx="246888" cy="246888"/>
          </a:xfrm>
          <a:prstGeom prst="ellipse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3968496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Déléguer de façon responsable, personnaliser selon le moindre privilège et mesurer l'adoption avec prudence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69480" y="1481328"/>
            <a:ext cx="4251960" cy="4187952"/>
          </a:xfrm>
          <a:prstGeom prst="roundRect">
            <a:avLst>
              <a:gd name="adj" fmla="val 1747"/>
            </a:avLst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62088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DD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98664" y="2304288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9832" y="25054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62288" y="294436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98664" y="3236976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34381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AGIR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62288" y="387705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98664" y="4169664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43708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VÉRIFIER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4360" y="6327648"/>
            <a:ext cx="10991088" cy="0"/>
          </a:xfrm>
          <a:prstGeom prst="line">
            <a:avLst/>
          </a:prstGeom>
          <a:noFill/>
          <a:ln w="12700">
            <a:solidFill>
              <a:srgbClr val="CAD6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6428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OPEN-003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595360" y="64282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Français (Canada) | 2026-10-14 | 3/35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D62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Préparer l'environnement d'apprentissage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673352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627632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Utiliser une version récente de VS Code, l'extension Copilot et le compte GitHub sous licence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2843784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798064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Cloner ce dépôt et installer les dépendances avant la séance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13232" y="4014216"/>
            <a:ext cx="246888" cy="246888"/>
          </a:xfrm>
          <a:prstGeom prst="ellipse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3968496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Utiliser uniquement des données fictives; le prototype de subvention demeure local et non officiel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69480" y="1481328"/>
            <a:ext cx="4251960" cy="4187952"/>
          </a:xfrm>
          <a:prstGeom prst="roundRect">
            <a:avLst>
              <a:gd name="adj" fmla="val 1747"/>
            </a:avLst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62088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DD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98664" y="2304288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9832" y="25054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62288" y="294436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98664" y="3236976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34381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AGIR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62288" y="387705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98664" y="4169664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43708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VÉRIFIER</a:t>
            </a:r>
            <a:endParaRPr lang="en-US" sz="1200" dirty="0"/>
          </a:p>
        </p:txBody>
      </p:sp>
      <p:sp>
        <p:nvSpPr>
          <p:cNvPr id="21" name="Text 19">
            <a:hlinkClick r:id="rId1" tooltip=""/>
          </p:cNvPr>
          <p:cNvSpPr/>
          <p:nvPr/>
        </p:nvSpPr>
        <p:spPr>
          <a:xfrm>
            <a:off x="731520" y="546811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176B87"/>
                </a:solidFill>
                <a:uFill>
                  <a:solidFill>
                    <a:srgbClr val="176B87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Ouvrir le module: /lab/fr#lab-00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5870448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E07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4360" y="6327648"/>
            <a:ext cx="10991088" cy="0"/>
          </a:xfrm>
          <a:prstGeom prst="line">
            <a:avLst/>
          </a:prstGeom>
          <a:noFill/>
          <a:ln w="12700">
            <a:solidFill>
              <a:srgbClr val="CAD6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6428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OPEN-004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595360" y="64282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Français (Canada) | 2026-10-14 | 4/35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D62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MBOUND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Contexte du forfait : la capacité suit l'accès géré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673352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627632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centre l'accès, les stratégies et les rapports de l'organisation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2843784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798064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exige GitHub Enterprise Cloud et comprend les capacités Business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13232" y="4014216"/>
            <a:ext cx="246888" cy="246888"/>
          </a:xfrm>
          <a:prstGeom prst="ellipse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3968496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 n'est pas offert actuellement pour GitHub Enterprise Server; revérifier avant la séance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69480" y="1481328"/>
            <a:ext cx="4251960" cy="4187952"/>
          </a:xfrm>
          <a:prstGeom prst="roundRect">
            <a:avLst>
              <a:gd name="adj" fmla="val 1747"/>
            </a:avLst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62088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DD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MBOUND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98664" y="2304288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9832" y="25054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ACCÈS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62288" y="294436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98664" y="3236976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34381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62288" y="387705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98664" y="4169664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43708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RÉVISION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5870448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E01, E02, E03, E05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" y="6327648"/>
            <a:ext cx="10991088" cy="0"/>
          </a:xfrm>
          <a:prstGeom prst="line">
            <a:avLst/>
          </a:prstGeom>
          <a:noFill/>
          <a:ln w="12700">
            <a:solidFill>
              <a:srgbClr val="CAD6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6428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MBOUND-001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95360" y="64282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Français (Canada) | 2026-10-14 | 5/35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D62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MBOUND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Commencer par une limite de confiance gérée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673352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627632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Confirmer le poste, la stratégie de l'organisation, les surfaces approuvées et les permissions du dépôt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2843784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798064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Utiliser la plus petite portée utile de fichiers et d'outils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13232" y="4014216"/>
            <a:ext cx="246888" cy="246888"/>
          </a:xfrm>
          <a:prstGeom prst="ellipse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3968496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Garder les secrets, les identifiants et les vraies données de demandeurs hors des requêtes et de l'historique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69480" y="1481328"/>
            <a:ext cx="4251960" cy="4187952"/>
          </a:xfrm>
          <a:prstGeom prst="roundRect">
            <a:avLst>
              <a:gd name="adj" fmla="val 1747"/>
            </a:avLst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62088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DD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MBOUND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98664" y="2304288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9832" y="25054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ACCÈS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62288" y="294436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98664" y="3236976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34381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62288" y="387705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98664" y="4169664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43708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RÉVISION</a:t>
            </a:r>
            <a:endParaRPr lang="en-US" sz="1200" dirty="0"/>
          </a:p>
        </p:txBody>
      </p:sp>
      <p:sp>
        <p:nvSpPr>
          <p:cNvPr id="21" name="Text 19">
            <a:hlinkClick r:id="rId1" tooltip=""/>
          </p:cNvPr>
          <p:cNvSpPr/>
          <p:nvPr/>
        </p:nvSpPr>
        <p:spPr>
          <a:xfrm>
            <a:off x="731520" y="546811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176B87"/>
                </a:solidFill>
                <a:uFill>
                  <a:solidFill>
                    <a:srgbClr val="176B87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Ouvrir le module: /lab/fr#lab-00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" y="6327648"/>
            <a:ext cx="10991088" cy="0"/>
          </a:xfrm>
          <a:prstGeom prst="line">
            <a:avLst/>
          </a:prstGeom>
          <a:noFill/>
          <a:ln w="12700">
            <a:solidFill>
              <a:srgbClr val="CAD6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6428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MBOUND-002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95360" y="64282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Français (Canada) | 2026-10-14 | 6/35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D62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Traiter chaque résultat comme une hypothèse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673352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627632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Vérifier l'exactitude, la sécurité, les licences, la confidentialité, l'accessibilité et les normes de l'organisation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2843784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798064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Demander des preuves, examiner la source et exécuter la validation utile la plus ciblée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13232" y="4014216"/>
            <a:ext cx="246888" cy="246888"/>
          </a:xfrm>
          <a:prstGeom prst="ellipse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3968496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L'approbation humaine demeure requise pour les commandes, les flux, les fusions et les déploiements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69480" y="1481328"/>
            <a:ext cx="4251960" cy="4187952"/>
          </a:xfrm>
          <a:prstGeom prst="roundRect">
            <a:avLst>
              <a:gd name="adj" fmla="val 1747"/>
            </a:avLst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62088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DD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98664" y="2304288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9832" y="25054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62288" y="294436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98664" y="3236976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34381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DIFFÉRENCES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62288" y="387705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98664" y="4169664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43708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1200" dirty="0"/>
          </a:p>
        </p:txBody>
      </p:sp>
      <p:sp>
        <p:nvSpPr>
          <p:cNvPr id="21" name="Text 19">
            <a:hlinkClick r:id="rId1" tooltip=""/>
          </p:cNvPr>
          <p:cNvSpPr/>
          <p:nvPr/>
        </p:nvSpPr>
        <p:spPr>
          <a:xfrm>
            <a:off x="731520" y="546811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176B87"/>
                </a:solidFill>
                <a:uFill>
                  <a:solidFill>
                    <a:srgbClr val="176B87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Ouvrir le module: /lab/fr#lab-01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5870448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E41, E42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4360" y="6327648"/>
            <a:ext cx="10991088" cy="0"/>
          </a:xfrm>
          <a:prstGeom prst="line">
            <a:avLst/>
          </a:prstGeom>
          <a:noFill/>
          <a:ln w="12700">
            <a:solidFill>
              <a:srgbClr val="CAD6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6428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RESP-001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595360" y="64282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Français (Canada) | 2026-10-14 | 7/35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D62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Formuler une requête pour obtenir un résultat vérifiable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673352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627632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Objectif : nommer le changement observable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2843784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798064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Contexte : indiquer les fichiers, symboles, contraintes et exemples exacts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13232" y="4014216"/>
            <a:ext cx="246888" cy="246888"/>
          </a:xfrm>
          <a:prstGeom prst="ellipse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3968496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demander les tests, diagnostics, différences et incertitudes déclarées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69480" y="1481328"/>
            <a:ext cx="4251960" cy="4187952"/>
          </a:xfrm>
          <a:prstGeom prst="roundRect">
            <a:avLst>
              <a:gd name="adj" fmla="val 1747"/>
            </a:avLst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62088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DD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98664" y="2304288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9832" y="25054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62288" y="294436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98664" y="3236976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34381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AGIR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62288" y="387705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98664" y="4169664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43708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VÉRIFIER</a:t>
            </a:r>
            <a:endParaRPr lang="en-US" sz="1200" dirty="0"/>
          </a:p>
        </p:txBody>
      </p:sp>
      <p:sp>
        <p:nvSpPr>
          <p:cNvPr id="21" name="Text 19">
            <a:hlinkClick r:id="rId1" tooltip=""/>
          </p:cNvPr>
          <p:cNvSpPr/>
          <p:nvPr/>
        </p:nvSpPr>
        <p:spPr>
          <a:xfrm>
            <a:off x="731520" y="546811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176B87"/>
                </a:solidFill>
                <a:uFill>
                  <a:solidFill>
                    <a:srgbClr val="176B87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Ouvrir le module: /lab/fr#lab-01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" y="6327648"/>
            <a:ext cx="10991088" cy="0"/>
          </a:xfrm>
          <a:prstGeom prst="line">
            <a:avLst/>
          </a:prstGeom>
          <a:noFill/>
          <a:ln w="12700">
            <a:solidFill>
              <a:srgbClr val="CAD6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6428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RESP-002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95360" y="64282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Français (Canada) | 2026-10-14 | 8/35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D62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Choisir le mode utile le moins autonome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673352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627632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Suggestions pour une suite locale; conversation pour les explications et les options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2843784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798064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Modification pour des changements ciblés; mode agent pour un travail itératif en plusieurs étapes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13232" y="4014216"/>
            <a:ext cx="246888" cy="246888"/>
          </a:xfrm>
          <a:prstGeom prst="ellipse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3968496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infonuagique pour un travail asynchrone délimité, révisé dans une demande de tirage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69480" y="1481328"/>
            <a:ext cx="4251960" cy="4187952"/>
          </a:xfrm>
          <a:prstGeom prst="roundRect">
            <a:avLst>
              <a:gd name="adj" fmla="val 1747"/>
            </a:avLst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62088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DD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98664" y="2304288"/>
            <a:ext cx="3520440" cy="512064"/>
          </a:xfrm>
          <a:prstGeom prst="roundRect">
            <a:avLst>
              <a:gd name="adj" fmla="val 7143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9832" y="245059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SUGGÉRER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62288" y="280720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98664" y="3017520"/>
            <a:ext cx="3520440" cy="512064"/>
          </a:xfrm>
          <a:prstGeom prst="roundRect">
            <a:avLst>
              <a:gd name="adj" fmla="val 7143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316382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DISCUTER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62288" y="3520440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98664" y="3730752"/>
            <a:ext cx="3520440" cy="512064"/>
          </a:xfrm>
          <a:prstGeom prst="roundRect">
            <a:avLst>
              <a:gd name="adj" fmla="val 7143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38770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62288" y="4233672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598664" y="4443984"/>
            <a:ext cx="3520440" cy="512064"/>
          </a:xfrm>
          <a:prstGeom prst="roundRect">
            <a:avLst>
              <a:gd name="adj" fmla="val 7143"/>
            </a:avLst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99832" y="459028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5870448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E08, E09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94360" y="6327648"/>
            <a:ext cx="10991088" cy="0"/>
          </a:xfrm>
          <a:prstGeom prst="line">
            <a:avLst/>
          </a:prstGeom>
          <a:noFill/>
          <a:ln w="12700">
            <a:solidFill>
              <a:srgbClr val="CAD6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" y="6428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FLOW-001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595360" y="64282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Français (Canada) | 2026-10-14 | 9/35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D62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Suggestions : garder la décision d'acceptation locale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673352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627632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Exprimer l'intention dans le code voisin, les types, les tests et les noms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2843784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798064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Accepter seulement la partie utile et refuser les écarts qui semblent plausibles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13232" y="4014216"/>
            <a:ext cx="246888" cy="246888"/>
          </a:xfrm>
          <a:prstGeom prst="ellipse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3968496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Exécuter le test ciblé avant d'élargir le changement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69480" y="1481328"/>
            <a:ext cx="4251960" cy="4187952"/>
          </a:xfrm>
          <a:prstGeom prst="roundRect">
            <a:avLst>
              <a:gd name="adj" fmla="val 1747"/>
            </a:avLst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62088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DD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98664" y="2304288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9832" y="25054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62288" y="294436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98664" y="3236976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34381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AGIR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62288" y="387705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98664" y="4169664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43708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VÉRIFIER</a:t>
            </a:r>
            <a:endParaRPr lang="en-US" sz="1200" dirty="0"/>
          </a:p>
        </p:txBody>
      </p:sp>
      <p:sp>
        <p:nvSpPr>
          <p:cNvPr id="21" name="Text 19">
            <a:hlinkClick r:id="rId1" tooltip=""/>
          </p:cNvPr>
          <p:cNvSpPr/>
          <p:nvPr/>
        </p:nvSpPr>
        <p:spPr>
          <a:xfrm>
            <a:off x="731520" y="546811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176B87"/>
                </a:solidFill>
                <a:uFill>
                  <a:solidFill>
                    <a:srgbClr val="176B87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Ouvrir le module: /lab/fr#lab-02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" y="6327648"/>
            <a:ext cx="10991088" cy="0"/>
          </a:xfrm>
          <a:prstGeom prst="line">
            <a:avLst/>
          </a:prstGeom>
          <a:noFill/>
          <a:ln w="12700">
            <a:solidFill>
              <a:srgbClr val="CAD6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6428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FLOW-002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95360" y="64282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Français (Canada) | 2026-10-14 | 10/35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D62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: expliquer, comparer, puis vérifier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673352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627632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Sélectionner la plus petite surface de code pouvant répondre à la question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2843784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798064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Demander les hypothèses, les options et un contrôle réfutable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13232" y="4014216"/>
            <a:ext cx="246888" cy="246888"/>
          </a:xfrm>
          <a:prstGeom prst="ellipse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3968496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Comparer la réponse au code, à la documentation et aux preuves d'exécution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69480" y="1481328"/>
            <a:ext cx="4251960" cy="4187952"/>
          </a:xfrm>
          <a:prstGeom prst="roundRect">
            <a:avLst>
              <a:gd name="adj" fmla="val 1747"/>
            </a:avLst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62088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DD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98664" y="2304288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9832" y="25054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62288" y="294436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98664" y="3236976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34381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AGIR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62288" y="387705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98664" y="4169664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43708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VÉRIFIER</a:t>
            </a:r>
            <a:endParaRPr lang="en-US" sz="1200" dirty="0"/>
          </a:p>
        </p:txBody>
      </p:sp>
      <p:sp>
        <p:nvSpPr>
          <p:cNvPr id="21" name="Text 19">
            <a:hlinkClick r:id="rId1" tooltip=""/>
          </p:cNvPr>
          <p:cNvSpPr/>
          <p:nvPr/>
        </p:nvSpPr>
        <p:spPr>
          <a:xfrm>
            <a:off x="731520" y="546811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176B87"/>
                </a:solidFill>
                <a:uFill>
                  <a:solidFill>
                    <a:srgbClr val="176B87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Ouvrir le module: /lab/fr#lab-02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" y="6327648"/>
            <a:ext cx="10991088" cy="0"/>
          </a:xfrm>
          <a:prstGeom prst="line">
            <a:avLst/>
          </a:prstGeom>
          <a:noFill/>
          <a:ln w="12700">
            <a:solidFill>
              <a:srgbClr val="CAD6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6428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FLOW-003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95360" y="64282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Français (Canada) | 2026-10-14 | 11/35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D62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Flux de modification : délimiter avant d'appliquer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673352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627632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Préciser les fichiers modifiables et le comportement qui doit rester stable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2843784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798064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Réviser chaque bloc; ne pas accepter les nettoyages sans rapport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13232" y="4014216"/>
            <a:ext cx="246888" cy="246888"/>
          </a:xfrm>
          <a:prstGeom prst="ellipse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3968496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Compiler ou tester immédiatement la partie touchée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69480" y="1481328"/>
            <a:ext cx="4251960" cy="4187952"/>
          </a:xfrm>
          <a:prstGeom prst="roundRect">
            <a:avLst>
              <a:gd name="adj" fmla="val 1747"/>
            </a:avLst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62088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DD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98664" y="2304288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9832" y="25054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62288" y="294436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98664" y="3236976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34381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AGIR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62288" y="387705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98664" y="4169664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43708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VÉRIFIER</a:t>
            </a:r>
            <a:endParaRPr lang="en-US" sz="1200" dirty="0"/>
          </a:p>
        </p:txBody>
      </p:sp>
      <p:sp>
        <p:nvSpPr>
          <p:cNvPr id="21" name="Text 19">
            <a:hlinkClick r:id="rId1" tooltip=""/>
          </p:cNvPr>
          <p:cNvSpPr/>
          <p:nvPr/>
        </p:nvSpPr>
        <p:spPr>
          <a:xfrm>
            <a:off x="731520" y="546811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176B87"/>
                </a:solidFill>
                <a:uFill>
                  <a:solidFill>
                    <a:srgbClr val="176B87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Ouvrir le module: /lab/fr#lab-03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" y="6327648"/>
            <a:ext cx="10991088" cy="0"/>
          </a:xfrm>
          <a:prstGeom prst="line">
            <a:avLst/>
          </a:prstGeom>
          <a:noFill/>
          <a:ln w="12700">
            <a:solidFill>
              <a:srgbClr val="CAD6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6428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FLOW-004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95360" y="64282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Français (Canada) | 2026-10-14 | 12/35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D62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 agent : accorder les outils une limite à la fois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673352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627632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Décrire le résultat, les contraintes et les conditions d'arrêt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2843784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798064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Réviser les commandes proposées et surveiller l'élargissement de la portée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13232" y="4014216"/>
            <a:ext cx="246888" cy="246888"/>
          </a:xfrm>
          <a:prstGeom prst="ellipse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3968496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Exiger des différences propres et des preuves exécutables avant de terminer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69480" y="1481328"/>
            <a:ext cx="4251960" cy="4187952"/>
          </a:xfrm>
          <a:prstGeom prst="roundRect">
            <a:avLst>
              <a:gd name="adj" fmla="val 1747"/>
            </a:avLst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62088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DD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98664" y="2304288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9832" y="25054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62288" y="294436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98664" y="3236976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34381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AGIR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62288" y="387705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98664" y="4169664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43708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VÉRIFIER</a:t>
            </a:r>
            <a:endParaRPr lang="en-US" sz="1200" dirty="0"/>
          </a:p>
        </p:txBody>
      </p:sp>
      <p:sp>
        <p:nvSpPr>
          <p:cNvPr id="21" name="Text 19">
            <a:hlinkClick r:id="rId1" tooltip=""/>
          </p:cNvPr>
          <p:cNvSpPr/>
          <p:nvPr/>
        </p:nvSpPr>
        <p:spPr>
          <a:xfrm>
            <a:off x="731520" y="546811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176B87"/>
                </a:solidFill>
                <a:uFill>
                  <a:solidFill>
                    <a:srgbClr val="176B87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Ouvrir le module: /lab/fr#lab-06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5870448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E08, E42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4360" y="6327648"/>
            <a:ext cx="10991088" cy="0"/>
          </a:xfrm>
          <a:prstGeom prst="line">
            <a:avLst/>
          </a:prstGeom>
          <a:noFill/>
          <a:ln w="12700">
            <a:solidFill>
              <a:srgbClr val="CAD6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6428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FLOW-005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595360" y="64282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Français (Canada) | 2026-10-14 | 13/35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D62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Délégation infonuagique : définir une tâche révisable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673352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627632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Déléguer un travail délimité avec des critères d'acceptation et le contexte du dépôt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2843784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798064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 2026-10-14, chaque tâche est limitée à un dépôt, une branche, une demande de tirage et une séance de 59 minutes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13232" y="4014216"/>
            <a:ext cx="246888" cy="246888"/>
          </a:xfrm>
          <a:prstGeom prst="ellipse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3968496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 jamais laisser l'exécution asynchrone contourner la révision ou les contrôles de déploiement requis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69480" y="1481328"/>
            <a:ext cx="4251960" cy="4187952"/>
          </a:xfrm>
          <a:prstGeom prst="roundRect">
            <a:avLst>
              <a:gd name="adj" fmla="val 1747"/>
            </a:avLst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62088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DD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98664" y="2304288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9832" y="25054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62288" y="294436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98664" y="3236976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34381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AGIR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62288" y="387705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98664" y="4169664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43708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VÉRIFIER</a:t>
            </a:r>
            <a:endParaRPr lang="en-US" sz="1200" dirty="0"/>
          </a:p>
        </p:txBody>
      </p:sp>
      <p:sp>
        <p:nvSpPr>
          <p:cNvPr id="21" name="Text 19">
            <a:hlinkClick r:id="rId1" tooltip=""/>
          </p:cNvPr>
          <p:cNvSpPr/>
          <p:nvPr/>
        </p:nvSpPr>
        <p:spPr>
          <a:xfrm>
            <a:off x="731520" y="546811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176B87"/>
                </a:solidFill>
                <a:uFill>
                  <a:solidFill>
                    <a:srgbClr val="176B87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Ouvrir le module: /lab/fr#lab-07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5870448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E09, E10, E11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4360" y="6327648"/>
            <a:ext cx="10991088" cy="0"/>
          </a:xfrm>
          <a:prstGeom prst="line">
            <a:avLst/>
          </a:prstGeom>
          <a:noFill/>
          <a:ln w="12700">
            <a:solidFill>
              <a:srgbClr val="CAD6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6428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FLOW-006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595360" y="64282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Français (Canada) | 2026-10-14 | 14/35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D62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Boucle de révision : la preuve avant la fusion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673352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627632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Lire la définition de la tâche, le journal de session, les validations et toutes les différences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2843784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798064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Exécuter les tests et contrôles de sécurité indépendamment du résumé de l'agent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13232" y="4014216"/>
            <a:ext cx="246888" cy="246888"/>
          </a:xfrm>
          <a:prstGeom prst="ellipse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3968496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Consigner le jugement humain ayant accepté, corrigé ou refusé le travail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69480" y="1481328"/>
            <a:ext cx="4251960" cy="4187952"/>
          </a:xfrm>
          <a:prstGeom prst="roundRect">
            <a:avLst>
              <a:gd name="adj" fmla="val 1747"/>
            </a:avLst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62088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DD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98664" y="2304288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9832" y="25054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62288" y="294436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98664" y="3236976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34381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DIFFÉRENCES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62288" y="387705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98664" y="4169664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43708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1200" dirty="0"/>
          </a:p>
        </p:txBody>
      </p:sp>
      <p:sp>
        <p:nvSpPr>
          <p:cNvPr id="21" name="Text 19">
            <a:hlinkClick r:id="rId1" tooltip=""/>
          </p:cNvPr>
          <p:cNvSpPr/>
          <p:nvPr/>
        </p:nvSpPr>
        <p:spPr>
          <a:xfrm>
            <a:off x="731520" y="546811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176B87"/>
                </a:solidFill>
                <a:uFill>
                  <a:solidFill>
                    <a:srgbClr val="176B87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Ouvrir le module: /lab/fr#lab-07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5870448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E11, E42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4360" y="6327648"/>
            <a:ext cx="10991088" cy="0"/>
          </a:xfrm>
          <a:prstGeom prst="line">
            <a:avLst/>
          </a:prstGeom>
          <a:noFill/>
          <a:ln w="12700">
            <a:solidFill>
              <a:srgbClr val="CAD6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6428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FLOW-007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595360" y="64282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Français (Canada) | 2026-10-14 | 15/35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D62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personnalisation est un contrat en couches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673352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627632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instructions définissent des normes automatiques; les fichiers de requête regroupent les demandes répétables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2843784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798064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agents personnalisés spécialisent les outils et le contexte; les compétences chargent les procédures pertinentes au besoin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13232" y="4014216"/>
            <a:ext cx="246888" cy="246888"/>
          </a:xfrm>
          <a:prstGeom prst="ellipse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3968496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points d'ancrage exécutent des commandes déterministes; MCP relie les capacités externes approuvées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69480" y="1481328"/>
            <a:ext cx="4251960" cy="4187952"/>
          </a:xfrm>
          <a:prstGeom prst="roundRect">
            <a:avLst>
              <a:gd name="adj" fmla="val 1747"/>
            </a:avLst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62088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DD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98664" y="2304288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9832" y="25054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62288" y="294436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98664" y="3236976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34381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AGIR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62288" y="387705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98664" y="4169664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43708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VÉRIFIER</a:t>
            </a:r>
            <a:endParaRPr lang="en-US" sz="1200" dirty="0"/>
          </a:p>
        </p:txBody>
      </p:sp>
      <p:sp>
        <p:nvSpPr>
          <p:cNvPr id="21" name="Text 19">
            <a:hlinkClick r:id="rId1" tooltip=""/>
          </p:cNvPr>
          <p:cNvSpPr/>
          <p:nvPr/>
        </p:nvSpPr>
        <p:spPr>
          <a:xfrm>
            <a:off x="731520" y="546811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176B87"/>
                </a:solidFill>
                <a:uFill>
                  <a:solidFill>
                    <a:srgbClr val="176B87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Ouvrir le module: /lab/fr#lab-06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5870448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E16, E17, E18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4360" y="6327648"/>
            <a:ext cx="10991088" cy="0"/>
          </a:xfrm>
          <a:prstGeom prst="line">
            <a:avLst/>
          </a:prstGeom>
          <a:noFill/>
          <a:ln w="12700">
            <a:solidFill>
              <a:srgbClr val="CAD6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6428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CUSTOM-001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595360" y="64282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Français (Canada) | 2026-10-14 | 16/35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D62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 instructions et fichiers de requête rendent l'intention révisable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673352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627632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Garder les normes indépendantes de l'organisation près du dépôt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2843784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798064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Utiliser des instructions propres à un chemin seulement lorsque leur portée est claire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13232" y="4014216"/>
            <a:ext cx="246888" cy="246888"/>
          </a:xfrm>
          <a:prstGeom prst="ellipse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3968496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Rédiger les requêtes avec les entrées, le format de sortie, la validation et les conditions d'arrêt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69480" y="1481328"/>
            <a:ext cx="4251960" cy="4187952"/>
          </a:xfrm>
          <a:prstGeom prst="roundRect">
            <a:avLst>
              <a:gd name="adj" fmla="val 1747"/>
            </a:avLst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62088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DD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98664" y="2304288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9832" y="25054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62288" y="294436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98664" y="3236976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34381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AGIR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62288" y="387705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98664" y="4169664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43708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VÉRIFIER</a:t>
            </a:r>
            <a:endParaRPr lang="en-US" sz="1200" dirty="0"/>
          </a:p>
        </p:txBody>
      </p:sp>
      <p:sp>
        <p:nvSpPr>
          <p:cNvPr id="21" name="Text 19">
            <a:hlinkClick r:id="rId1" tooltip=""/>
          </p:cNvPr>
          <p:cNvSpPr/>
          <p:nvPr/>
        </p:nvSpPr>
        <p:spPr>
          <a:xfrm>
            <a:off x="731520" y="546811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176B87"/>
                </a:solidFill>
                <a:uFill>
                  <a:solidFill>
                    <a:srgbClr val="176B87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Ouvrir le module: /lab/fr#lab-06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5870448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E16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4360" y="6327648"/>
            <a:ext cx="10991088" cy="0"/>
          </a:xfrm>
          <a:prstGeom prst="line">
            <a:avLst/>
          </a:prstGeom>
          <a:noFill/>
          <a:ln w="12700">
            <a:solidFill>
              <a:srgbClr val="CAD6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6428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CUSTOM-002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595360" y="64282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Français (Canada) | 2026-10-14 | 17/35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D62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 compétences et points d'ancrage séparent jugement et déterminisme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673352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627632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Utiliser une compétence pour le contexte, le processus, les scripts et les ressources réutilisables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2843784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798064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Utiliser un point d'ancrage lorsqu'une commande doit s'exécuter de façon prévisible à une étape du cycle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13232" y="4014216"/>
            <a:ext cx="246888" cy="246888"/>
          </a:xfrm>
          <a:prstGeom prst="ellipse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3968496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Réviser les deux comme des éléments exécutables de la chaîne d'approvisionnement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69480" y="1481328"/>
            <a:ext cx="4251960" cy="4187952"/>
          </a:xfrm>
          <a:prstGeom prst="roundRect">
            <a:avLst>
              <a:gd name="adj" fmla="val 1747"/>
            </a:avLst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62088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DD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98664" y="2304288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9832" y="25054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62288" y="294436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98664" y="3236976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34381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AGIR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62288" y="387705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98664" y="4169664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43708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VÉRIFIER</a:t>
            </a:r>
            <a:endParaRPr lang="en-US" sz="1200" dirty="0"/>
          </a:p>
        </p:txBody>
      </p:sp>
      <p:sp>
        <p:nvSpPr>
          <p:cNvPr id="21" name="Text 19">
            <a:hlinkClick r:id="rId1" tooltip=""/>
          </p:cNvPr>
          <p:cNvSpPr/>
          <p:nvPr/>
        </p:nvSpPr>
        <p:spPr>
          <a:xfrm>
            <a:off x="731520" y="546811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176B87"/>
                </a:solidFill>
                <a:uFill>
                  <a:solidFill>
                    <a:srgbClr val="176B87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Ouvrir le module: /lab/fr#lab-06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5870448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E16, E17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4360" y="6327648"/>
            <a:ext cx="10991088" cy="0"/>
          </a:xfrm>
          <a:prstGeom prst="line">
            <a:avLst/>
          </a:prstGeom>
          <a:noFill/>
          <a:ln w="12700">
            <a:solidFill>
              <a:srgbClr val="CAD6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6428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CUSTOM-003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595360" y="64282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Français (Canada) | 2026-10-14 | 18/35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D62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MCP : une portée utile exige le moindre privilège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673352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627632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Approuver explicitement les serveurs, outils, sources de données et chemins d'authentification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2843784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798064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portée et les valeurs par défaut de la stratégie MCP gérée dépendent de la source de l'accès Business ou Enterprise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13232" y="4014216"/>
            <a:ext cx="246888" cy="246888"/>
          </a:xfrm>
          <a:prstGeom prst="ellipse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3968496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Traiter le contenu retourné et les instructions d'outil comme non fiables avant révision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69480" y="1481328"/>
            <a:ext cx="4251960" cy="4187952"/>
          </a:xfrm>
          <a:prstGeom prst="roundRect">
            <a:avLst>
              <a:gd name="adj" fmla="val 1747"/>
            </a:avLst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62088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DD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98664" y="2304288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9832" y="25054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62288" y="294436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98664" y="3236976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34381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AGIR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62288" y="387705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98664" y="4169664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43708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VÉRIFIER</a:t>
            </a:r>
            <a:endParaRPr lang="en-US" sz="1200" dirty="0"/>
          </a:p>
        </p:txBody>
      </p:sp>
      <p:sp>
        <p:nvSpPr>
          <p:cNvPr id="21" name="Text 19">
            <a:hlinkClick r:id="rId1" tooltip=""/>
          </p:cNvPr>
          <p:cNvSpPr/>
          <p:nvPr/>
        </p:nvSpPr>
        <p:spPr>
          <a:xfrm>
            <a:off x="731520" y="546811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176B87"/>
                </a:solidFill>
                <a:uFill>
                  <a:solidFill>
                    <a:srgbClr val="176B87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Ouvrir le module: /lab/fr#lab-06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5870448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E18, E19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4360" y="6327648"/>
            <a:ext cx="10991088" cy="0"/>
          </a:xfrm>
          <a:prstGeom prst="line">
            <a:avLst/>
          </a:prstGeom>
          <a:noFill/>
          <a:ln w="12700">
            <a:solidFill>
              <a:srgbClr val="CAD6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6428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CUSTOM-004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595360" y="64282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Français (Canada) | 2026-10-14 | 19/35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D62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Choix du modèle : adéquation, stratégie, coût, puis validation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673352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627632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sélection automatique est dynamique et ne désigne pas un modèle fixe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2843784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798064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modèles visibles dépendent encore du forfait, de la stratégie, du client, du déploiement et des conditions du fournisseur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13232" y="4014216"/>
            <a:ext cx="246888" cy="246888"/>
          </a:xfrm>
          <a:prstGeom prst="ellipse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3968496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stratégie d'organisation régit le changement de modèle et l'utilisation de clés personnelles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69480" y="1481328"/>
            <a:ext cx="4251960" cy="4187952"/>
          </a:xfrm>
          <a:prstGeom prst="roundRect">
            <a:avLst>
              <a:gd name="adj" fmla="val 1747"/>
            </a:avLst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62088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DD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98664" y="2304288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9832" y="25054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62288" y="294436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98664" y="3236976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34381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AGIR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62288" y="387705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98664" y="4169664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43708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VÉRIFIER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5870448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E12, E13, E14, E15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" y="6327648"/>
            <a:ext cx="10991088" cy="0"/>
          </a:xfrm>
          <a:prstGeom prst="line">
            <a:avLst/>
          </a:prstGeom>
          <a:noFill/>
          <a:ln w="12700">
            <a:solidFill>
              <a:srgbClr val="CAD6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6428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CUSTOM-005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95360" y="64282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Français (Canada) | 2026-10-14 | 20/35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D62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ADOPT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L'administration définit la limite d'utilisation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673352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627632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facturation commence à l'attribution de l'accès; les attributions en cours de cycle sont calculées au prorata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2843784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798064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méthodes d'attribution et la portée des stratégies d'entreprise varient selon le forfait, la source d'accès et la délégation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13232" y="4014216"/>
            <a:ext cx="246888" cy="246888"/>
          </a:xfrm>
          <a:prstGeom prst="ellipse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3968496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Régir les agents, les modèles, les budgets de crédits IA, la confidentialité, les fonctionnalités et MCP sans présumer de valeurs uniformes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69480" y="1481328"/>
            <a:ext cx="4251960" cy="4187952"/>
          </a:xfrm>
          <a:prstGeom prst="roundRect">
            <a:avLst>
              <a:gd name="adj" fmla="val 1747"/>
            </a:avLst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62088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DD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ADOPT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98664" y="2304288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9832" y="25054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62288" y="294436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98664" y="3236976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34381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AGIR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62288" y="387705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98664" y="4169664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43708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VÉRIFIER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5870448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E19, E20, E30, E36, E37, E38, E40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" y="6327648"/>
            <a:ext cx="10991088" cy="0"/>
          </a:xfrm>
          <a:prstGeom prst="line">
            <a:avLst/>
          </a:prstGeom>
          <a:noFill/>
          <a:ln w="12700">
            <a:solidFill>
              <a:srgbClr val="CAD6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6428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ADOPT-001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95360" y="64282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Français (Canada) | 2026-10-14 | 21/35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D62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ADOPT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L'exclusion de contenu est un contrôle partiel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673352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627632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couverture varie selon la fonctionnalité et le client; les modes Modification et Agent ont des limites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2843784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798064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contenu permis peut révéler indirectement la sémantique exclue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13232" y="4014216"/>
            <a:ext cx="246888" cy="246888"/>
          </a:xfrm>
          <a:prstGeom prst="ellipse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3968496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Conserver les contrôles d'accès, la gestion des secrets, l'analyse et le jugement des développeurs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69480" y="1481328"/>
            <a:ext cx="4251960" cy="4187952"/>
          </a:xfrm>
          <a:prstGeom prst="roundRect">
            <a:avLst>
              <a:gd name="adj" fmla="val 1747"/>
            </a:avLst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62088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DD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ADOPT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98664" y="2304288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9832" y="25054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ACCÈS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62288" y="294436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98664" y="3236976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34381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62288" y="387705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98664" y="4169664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43708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RÉVISION</a:t>
            </a:r>
            <a:endParaRPr lang="en-US" sz="1200" dirty="0"/>
          </a:p>
        </p:txBody>
      </p:sp>
      <p:sp>
        <p:nvSpPr>
          <p:cNvPr id="21" name="Text 19">
            <a:hlinkClick r:id="rId1" tooltip=""/>
          </p:cNvPr>
          <p:cNvSpPr/>
          <p:nvPr/>
        </p:nvSpPr>
        <p:spPr>
          <a:xfrm>
            <a:off x="731520" y="546811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176B87"/>
                </a:solidFill>
                <a:uFill>
                  <a:solidFill>
                    <a:srgbClr val="176B87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Ouvrir le module: /lab/fr#lab-05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5870448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E23, E39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4360" y="6327648"/>
            <a:ext cx="10991088" cy="0"/>
          </a:xfrm>
          <a:prstGeom prst="line">
            <a:avLst/>
          </a:prstGeom>
          <a:noFill/>
          <a:ln w="12700">
            <a:solidFill>
              <a:srgbClr val="CAD6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6428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ADOPT-002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595360" y="64282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Français (Canada) | 2026-10-14 | 22/35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D62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ADOPT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 mesures orientent les questions, pas les liens de causalité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673352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627632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couverture comprend certaines activités dans les EDI, l'interface de ligne de commande et les agents, mais pas toutes les surfaces Copilot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2843784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798064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Prévoir deux jours UTC complets et vérifier l'attribution par organisation ainsi que la télémétrie des clients à jour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13232" y="4014216"/>
            <a:ext cx="246888" cy="246888"/>
          </a:xfrm>
          <a:prstGeom prst="ellipse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3968496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L'incident du 2026-10-06 confirme que l'activité historique touchée des agents ne peut pas être reconstituée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69480" y="1481328"/>
            <a:ext cx="4251960" cy="4187952"/>
          </a:xfrm>
          <a:prstGeom prst="roundRect">
            <a:avLst>
              <a:gd name="adj" fmla="val 1747"/>
            </a:avLst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62088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DD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ADOPT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98664" y="2304288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9832" y="25054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ADOPTION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62288" y="294436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98664" y="3236976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34381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CONFIANCE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62288" y="387705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98664" y="4169664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43708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FLUX</a:t>
            </a:r>
            <a:endParaRPr lang="en-US" sz="1200" dirty="0"/>
          </a:p>
        </p:txBody>
      </p:sp>
      <p:sp>
        <p:nvSpPr>
          <p:cNvPr id="21" name="Text 19">
            <a:hlinkClick r:id="rId1" tooltip=""/>
          </p:cNvPr>
          <p:cNvSpPr/>
          <p:nvPr/>
        </p:nvSpPr>
        <p:spPr>
          <a:xfrm>
            <a:off x="731520" y="546811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176B87"/>
                </a:solidFill>
                <a:uFill>
                  <a:solidFill>
                    <a:srgbClr val="176B87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Ouvrir le module: /lab/fr#lab-07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5870448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E20, E21, E22, E31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4360" y="6327648"/>
            <a:ext cx="10991088" cy="0"/>
          </a:xfrm>
          <a:prstGeom prst="line">
            <a:avLst/>
          </a:prstGeom>
          <a:noFill/>
          <a:ln w="12700">
            <a:solidFill>
              <a:srgbClr val="CAD6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6428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ADOPT-003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595360" y="64282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Français (Canada) | 2026-10-14 | 23/35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D62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Laboratoire 00 | Établir la limite de confiance gérée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673352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627632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Examiner la limite des données locales et l'avis de sécurité permanent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2843784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798064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Exécuter les tests ciblés de la fondation bilingue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13232" y="4014216"/>
            <a:ext cx="246888" cy="246888"/>
          </a:xfrm>
          <a:prstGeom prst="ellipse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3968496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 de contrôle : nommer le contexte sûr et les données interdites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69480" y="1481328"/>
            <a:ext cx="4251960" cy="4187952"/>
          </a:xfrm>
          <a:prstGeom prst="roundRect">
            <a:avLst>
              <a:gd name="adj" fmla="val 1747"/>
            </a:avLst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62088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DD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98664" y="2304288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9832" y="25054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62288" y="294436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98664" y="3236976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34381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AGIR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62288" y="387705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98664" y="4169664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43708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VÉRIFIER</a:t>
            </a:r>
            <a:endParaRPr lang="en-US" sz="1200" dirty="0"/>
          </a:p>
        </p:txBody>
      </p:sp>
      <p:sp>
        <p:nvSpPr>
          <p:cNvPr id="21" name="Text 19">
            <a:hlinkClick r:id="rId1" tooltip=""/>
          </p:cNvPr>
          <p:cNvSpPr/>
          <p:nvPr/>
        </p:nvSpPr>
        <p:spPr>
          <a:xfrm>
            <a:off x="731520" y="546811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176B87"/>
                </a:solidFill>
                <a:uFill>
                  <a:solidFill>
                    <a:srgbClr val="176B87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Ouvrir le module: /lab/fr#lab-00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" y="6327648"/>
            <a:ext cx="10991088" cy="0"/>
          </a:xfrm>
          <a:prstGeom prst="line">
            <a:avLst/>
          </a:prstGeom>
          <a:noFill/>
          <a:ln w="12700">
            <a:solidFill>
              <a:srgbClr val="CAD6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6428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LAB-00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95360" y="64282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Français (Canada) | 2026-10-14 | 24/35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D62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Laboratoire 01 | Fournir un contexte de dépôt vérifiable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673352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627632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Sélectionner les fichiers exacts et demander une explication fondée sur la source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2843784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798064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Distinguer les faits observés des hypothèses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13232" y="4014216"/>
            <a:ext cx="246888" cy="246888"/>
          </a:xfrm>
          <a:prstGeom prst="ellipse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3968496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 de contrôle : chaque affirmation importante possède un repère dans le code ou la documentation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69480" y="1481328"/>
            <a:ext cx="4251960" cy="4187952"/>
          </a:xfrm>
          <a:prstGeom prst="roundRect">
            <a:avLst>
              <a:gd name="adj" fmla="val 1747"/>
            </a:avLst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62088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DD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98664" y="2304288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9832" y="25054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62288" y="294436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98664" y="3236976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34381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AGIR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62288" y="387705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98664" y="4169664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43708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VÉRIFIER</a:t>
            </a:r>
            <a:endParaRPr lang="en-US" sz="1200" dirty="0"/>
          </a:p>
        </p:txBody>
      </p:sp>
      <p:sp>
        <p:nvSpPr>
          <p:cNvPr id="21" name="Text 19">
            <a:hlinkClick r:id="rId1" tooltip=""/>
          </p:cNvPr>
          <p:cNvSpPr/>
          <p:nvPr/>
        </p:nvSpPr>
        <p:spPr>
          <a:xfrm>
            <a:off x="731520" y="546811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176B87"/>
                </a:solidFill>
                <a:uFill>
                  <a:solidFill>
                    <a:srgbClr val="176B87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Ouvrir le module: /lab/fr#lab-01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" y="6327648"/>
            <a:ext cx="10991088" cy="0"/>
          </a:xfrm>
          <a:prstGeom prst="line">
            <a:avLst/>
          </a:prstGeom>
          <a:noFill/>
          <a:ln w="12700">
            <a:solidFill>
              <a:srgbClr val="CAD6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6428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LAB-01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95360" y="64282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Français (Canada) | 2026-10-14 | 25/35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D62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Laboratoire 02 | Utiliser les suggestions et la conversation pour des tests ciblés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673352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627632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Utiliser les types et tests voisins pour encadrer une suggestion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2843784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798064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Comparer les conseils de la conversation à l'implémentation réelle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13232" y="4014216"/>
            <a:ext cx="246888" cy="246888"/>
          </a:xfrm>
          <a:prstGeom prst="ellipse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3968496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 de contrôle : les tests ciblés réussissent et les changements non fondés sont refusés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69480" y="1481328"/>
            <a:ext cx="4251960" cy="4187952"/>
          </a:xfrm>
          <a:prstGeom prst="roundRect">
            <a:avLst>
              <a:gd name="adj" fmla="val 1747"/>
            </a:avLst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62088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DD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98664" y="2304288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9832" y="25054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62288" y="294436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98664" y="3236976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34381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AGIR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62288" y="387705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98664" y="4169664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43708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VÉRIFIER</a:t>
            </a:r>
            <a:endParaRPr lang="en-US" sz="1200" dirty="0"/>
          </a:p>
        </p:txBody>
      </p:sp>
      <p:sp>
        <p:nvSpPr>
          <p:cNvPr id="21" name="Text 19">
            <a:hlinkClick r:id="rId1" tooltip=""/>
          </p:cNvPr>
          <p:cNvSpPr/>
          <p:nvPr/>
        </p:nvSpPr>
        <p:spPr>
          <a:xfrm>
            <a:off x="731520" y="546811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176B87"/>
                </a:solidFill>
                <a:uFill>
                  <a:solidFill>
                    <a:srgbClr val="176B87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Ouvrir le module: /lab/fr#lab-02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" y="6327648"/>
            <a:ext cx="10991088" cy="0"/>
          </a:xfrm>
          <a:prstGeom prst="line">
            <a:avLst/>
          </a:prstGeom>
          <a:noFill/>
          <a:ln w="12700">
            <a:solidFill>
              <a:srgbClr val="CAD6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6428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LAB-02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95360" y="64282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Français (Canada) | 2026-10-14 | 26/35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D62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Laboratoire 03 | Planifier et valider une petite restructuration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673352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627632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Définir les invariants et les fichiers permis avant la modification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2843784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798064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Réviser le plan et chaque bloc appliqué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13232" y="4014216"/>
            <a:ext cx="246888" cy="246888"/>
          </a:xfrm>
          <a:prstGeom prst="ellipse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3968496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 de contrôle : le comportement demeure stable sous validation ciblée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69480" y="1481328"/>
            <a:ext cx="4251960" cy="4187952"/>
          </a:xfrm>
          <a:prstGeom prst="roundRect">
            <a:avLst>
              <a:gd name="adj" fmla="val 1747"/>
            </a:avLst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62088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DD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98664" y="2304288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9832" y="25054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62288" y="294436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98664" y="3236976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34381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AGIR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62288" y="387705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98664" y="4169664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43708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VÉRIFIER</a:t>
            </a:r>
            <a:endParaRPr lang="en-US" sz="1200" dirty="0"/>
          </a:p>
        </p:txBody>
      </p:sp>
      <p:sp>
        <p:nvSpPr>
          <p:cNvPr id="21" name="Text 19">
            <a:hlinkClick r:id="rId1" tooltip=""/>
          </p:cNvPr>
          <p:cNvSpPr/>
          <p:nvPr/>
        </p:nvSpPr>
        <p:spPr>
          <a:xfrm>
            <a:off x="731520" y="546811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176B87"/>
                </a:solidFill>
                <a:uFill>
                  <a:solidFill>
                    <a:srgbClr val="176B87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Ouvrir le module: /lab/fr#lab-03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" y="6327648"/>
            <a:ext cx="10991088" cy="0"/>
          </a:xfrm>
          <a:prstGeom prst="line">
            <a:avLst/>
          </a:prstGeom>
          <a:noFill/>
          <a:ln w="12700">
            <a:solidFill>
              <a:srgbClr val="CAD6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6428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LAB-03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95360" y="64282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Français (Canada) | 2026-10-14 | 27/35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D62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Laboratoire 04 | Générer un test de navigateur accessible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673352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627632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Demander des preuves au clavier, sémantiques et sur écran étroit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2843784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798064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Examiner les sélecteurs selon le sens pour l'utilisateur plutôt que le détail d'implémentation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13232" y="4014216"/>
            <a:ext cx="246888" cy="246888"/>
          </a:xfrm>
          <a:prstGeom prst="ellipse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3968496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 de contrôle : le test échoue pour le défaut visé et réussit après correction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69480" y="1481328"/>
            <a:ext cx="4251960" cy="4187952"/>
          </a:xfrm>
          <a:prstGeom prst="roundRect">
            <a:avLst>
              <a:gd name="adj" fmla="val 1747"/>
            </a:avLst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62088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DD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98664" y="2304288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9832" y="25054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62288" y="294436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98664" y="3236976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34381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AGIR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62288" y="387705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98664" y="4169664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43708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VÉRIFIER</a:t>
            </a:r>
            <a:endParaRPr lang="en-US" sz="1200" dirty="0"/>
          </a:p>
        </p:txBody>
      </p:sp>
      <p:sp>
        <p:nvSpPr>
          <p:cNvPr id="21" name="Text 19">
            <a:hlinkClick r:id="rId1" tooltip=""/>
          </p:cNvPr>
          <p:cNvSpPr/>
          <p:nvPr/>
        </p:nvSpPr>
        <p:spPr>
          <a:xfrm>
            <a:off x="731520" y="546811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176B87"/>
                </a:solidFill>
                <a:uFill>
                  <a:solidFill>
                    <a:srgbClr val="176B87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Ouvrir le module: /lab/fr#lab-04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" y="6327648"/>
            <a:ext cx="10991088" cy="0"/>
          </a:xfrm>
          <a:prstGeom prst="line">
            <a:avLst/>
          </a:prstGeom>
          <a:noFill/>
          <a:ln w="12700">
            <a:solidFill>
              <a:srgbClr val="CAD6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6428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LAB-04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95360" y="64282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Français (Canada) | 2026-10-14 | 28/35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D62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Laboratoire 05 | Réviser la confidentialité et le traitement local des fichiers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673352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627632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Suivre la sélection de PDF et IndexedDB sans données réelles de demandeurs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2843784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798064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Remettre en question les affirmations trop larges sur l'exclusion ou la conservation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13232" y="4014216"/>
            <a:ext cx="246888" cy="246888"/>
          </a:xfrm>
          <a:prstGeom prst="ellipse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3968496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 de contrôle : les énoncés de confidentialité correspondent au code et aux modalités actuelles de première partie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69480" y="1481328"/>
            <a:ext cx="4251960" cy="4187952"/>
          </a:xfrm>
          <a:prstGeom prst="roundRect">
            <a:avLst>
              <a:gd name="adj" fmla="val 1747"/>
            </a:avLst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62088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DD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98664" y="2304288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9832" y="25054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62288" y="294436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98664" y="3236976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34381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AGIR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62288" y="387705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98664" y="4169664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43708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VÉRIFIER</a:t>
            </a:r>
            <a:endParaRPr lang="en-US" sz="1200" dirty="0"/>
          </a:p>
        </p:txBody>
      </p:sp>
      <p:sp>
        <p:nvSpPr>
          <p:cNvPr id="21" name="Text 19">
            <a:hlinkClick r:id="rId1" tooltip=""/>
          </p:cNvPr>
          <p:cNvSpPr/>
          <p:nvPr/>
        </p:nvSpPr>
        <p:spPr>
          <a:xfrm>
            <a:off x="731520" y="546811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176B87"/>
                </a:solidFill>
                <a:uFill>
                  <a:solidFill>
                    <a:srgbClr val="176B87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Ouvrir le module: /lab/fr#lab-05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5870448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E24, E25, E26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4360" y="6327648"/>
            <a:ext cx="10991088" cy="0"/>
          </a:xfrm>
          <a:prstGeom prst="line">
            <a:avLst/>
          </a:prstGeom>
          <a:noFill/>
          <a:ln w="12700">
            <a:solidFill>
              <a:srgbClr val="CAD6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6428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LAB-05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595360" y="64282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Français (Canada) | 2026-10-14 | 29/35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D62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Laboratoire 06 | Utiliser le mode agent avec des garde-fous explicites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673352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627632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Définir les limites de fichiers, de commandes et d'arrêt avant l'exécution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2843784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798064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Approuver les outils progressivement et examiner chaque changement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13232" y="4014216"/>
            <a:ext cx="246888" cy="246888"/>
          </a:xfrm>
          <a:prstGeom prst="ellipse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3968496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 de contrôle : la preuve est complète sans élargissement de la portée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69480" y="1481328"/>
            <a:ext cx="4251960" cy="4187952"/>
          </a:xfrm>
          <a:prstGeom prst="roundRect">
            <a:avLst>
              <a:gd name="adj" fmla="val 1747"/>
            </a:avLst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62088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DD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98664" y="2304288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9832" y="25054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62288" y="294436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98664" y="3236976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34381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AGIR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62288" y="387705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98664" y="4169664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43708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VÉRIFIER</a:t>
            </a:r>
            <a:endParaRPr lang="en-US" sz="1200" dirty="0"/>
          </a:p>
        </p:txBody>
      </p:sp>
      <p:sp>
        <p:nvSpPr>
          <p:cNvPr id="21" name="Text 19">
            <a:hlinkClick r:id="rId1" tooltip=""/>
          </p:cNvPr>
          <p:cNvSpPr/>
          <p:nvPr/>
        </p:nvSpPr>
        <p:spPr>
          <a:xfrm>
            <a:off x="731520" y="546811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176B87"/>
                </a:solidFill>
                <a:uFill>
                  <a:solidFill>
                    <a:srgbClr val="176B87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Ouvrir le module: /lab/fr#lab-06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5870448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E08, E42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4360" y="6327648"/>
            <a:ext cx="10991088" cy="0"/>
          </a:xfrm>
          <a:prstGeom prst="line">
            <a:avLst/>
          </a:prstGeom>
          <a:noFill/>
          <a:ln w="12700">
            <a:solidFill>
              <a:srgbClr val="CAD6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6428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LAB-06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595360" y="64282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Français (Canada) | 2026-10-14 | 30/35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D62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Laboratoire 07 | Déléguer, réviser et mesurer de façon responsable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673352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627632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Utiliser la simulation lorsque l'agent infonuagique n'est pas accessible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2843784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798064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Réviser la tâche, les preuves de session, les changements de la demande de tirage et les contrôles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13232" y="4014216"/>
            <a:ext cx="246888" cy="246888"/>
          </a:xfrm>
          <a:prstGeom prst="ellipse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3968496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 de contrôle : proposer une action d'accompagnement et un garde-fou à partir des preuves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69480" y="1481328"/>
            <a:ext cx="4251960" cy="4187952"/>
          </a:xfrm>
          <a:prstGeom prst="roundRect">
            <a:avLst>
              <a:gd name="adj" fmla="val 1747"/>
            </a:avLst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62088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DD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98664" y="2304288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9832" y="25054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62288" y="294436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98664" y="3236976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34381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AGIR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62288" y="387705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98664" y="4169664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43708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VÉRIFIER</a:t>
            </a:r>
            <a:endParaRPr lang="en-US" sz="1200" dirty="0"/>
          </a:p>
        </p:txBody>
      </p:sp>
      <p:sp>
        <p:nvSpPr>
          <p:cNvPr id="21" name="Text 19">
            <a:hlinkClick r:id="rId1" tooltip=""/>
          </p:cNvPr>
          <p:cNvSpPr/>
          <p:nvPr/>
        </p:nvSpPr>
        <p:spPr>
          <a:xfrm>
            <a:off x="731520" y="546811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176B87"/>
                </a:solidFill>
                <a:uFill>
                  <a:solidFill>
                    <a:srgbClr val="176B87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Ouvrir le module: /lab/fr#lab-07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5870448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E09, E11, E22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4360" y="6327648"/>
            <a:ext cx="10991088" cy="0"/>
          </a:xfrm>
          <a:prstGeom prst="line">
            <a:avLst/>
          </a:prstGeom>
          <a:noFill/>
          <a:ln w="12700">
            <a:solidFill>
              <a:srgbClr val="CAD6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6428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LAB-07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595360" y="64282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Français (Canada) | 2026-10-14 | 31/35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D62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Projet synthèse | De la requête à la preuve révisée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673352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627632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Définir un petit enjeu avec contraintes et critères d'acceptation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2843784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798064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Produire un changement révisé, des tests, des contrôles de sécurité et une personnalisation pertinente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13232" y="4014216"/>
            <a:ext cx="246888" cy="246888"/>
          </a:xfrm>
          <a:prstGeom prst="ellipse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3968496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Expliquer ce qui a exigé un jugement humain et quelles preuves appuient l'achèvement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69480" y="1481328"/>
            <a:ext cx="4251960" cy="4187952"/>
          </a:xfrm>
          <a:prstGeom prst="roundRect">
            <a:avLst>
              <a:gd name="adj" fmla="val 1747"/>
            </a:avLst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62088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DD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98664" y="2304288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9832" y="25054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62288" y="294436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98664" y="3236976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34381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AGIR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62288" y="387705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98664" y="4169664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43708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VÉRIFIER</a:t>
            </a:r>
            <a:endParaRPr lang="en-US" sz="1200" dirty="0"/>
          </a:p>
        </p:txBody>
      </p:sp>
      <p:sp>
        <p:nvSpPr>
          <p:cNvPr id="21" name="Text 19">
            <a:hlinkClick r:id="rId1" tooltip=""/>
          </p:cNvPr>
          <p:cNvSpPr/>
          <p:nvPr/>
        </p:nvSpPr>
        <p:spPr>
          <a:xfrm>
            <a:off x="731520" y="546811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176B87"/>
                </a:solidFill>
                <a:uFill>
                  <a:solidFill>
                    <a:srgbClr val="176B87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Ouvrir le module: /lab/fr#lab-cap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" y="6327648"/>
            <a:ext cx="10991088" cy="0"/>
          </a:xfrm>
          <a:prstGeom prst="line">
            <a:avLst/>
          </a:prstGeom>
          <a:noFill/>
          <a:ln w="12700">
            <a:solidFill>
              <a:srgbClr val="CAD6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6428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LAB-CAP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95360" y="64282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Français (Canada) | 2026-10-14 | 32/35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D62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APPX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Annexe datée | Forfaits et contexte commercial (2026-10-14)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673352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627632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: 19 $ US par poste attribué par mois; 1 900 crédits IA par utilisateur par mois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2843784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798064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: 39 $ US par poste attribué par mois; 3 900 crédits; les allocations regroupées ne sont pas reportées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13232" y="4014216"/>
            <a:ext cx="246888" cy="246888"/>
          </a:xfrm>
          <a:prstGeom prst="ellipse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3968496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Utilisation supplémentaire : 0,01 $ US par crédit IA calculé selon les jetons; suggestions payantes illimitées; vérifier le canal d'achat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69480" y="1481328"/>
            <a:ext cx="4251960" cy="4187952"/>
          </a:xfrm>
          <a:prstGeom prst="roundRect">
            <a:avLst>
              <a:gd name="adj" fmla="val 1747"/>
            </a:avLst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62088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DD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APPX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98664" y="2304288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9832" y="25054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62288" y="294436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98664" y="3236976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34381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AGIR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62288" y="387705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98664" y="4169664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43708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VÉRIFIER</a:t>
            </a:r>
            <a:endParaRPr lang="en-US" sz="1200" dirty="0"/>
          </a:p>
        </p:txBody>
      </p:sp>
      <p:sp>
        <p:nvSpPr>
          <p:cNvPr id="21" name="Text 19">
            <a:hlinkClick r:id="rId1" tooltip=""/>
          </p:cNvPr>
          <p:cNvSpPr/>
          <p:nvPr/>
        </p:nvSpPr>
        <p:spPr>
          <a:xfrm>
            <a:off x="731520" y="546811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176B87"/>
                </a:solidFill>
                <a:uFill>
                  <a:solidFill>
                    <a:srgbClr val="176B87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https://docs.github.com/en/copilot/get-started/plans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5870448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E03, E04, E40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4360" y="6327648"/>
            <a:ext cx="10991088" cy="0"/>
          </a:xfrm>
          <a:prstGeom prst="line">
            <a:avLst/>
          </a:prstGeom>
          <a:noFill/>
          <a:ln w="12700">
            <a:solidFill>
              <a:srgbClr val="CAD6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6428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APPX-001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595360" y="64282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Français (Canada) | 2026-10-14 | 33/35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D62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APPX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Annexe datée | Volatilité des fonctionnalités et modèles (2026-10-14)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673352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627632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prise en charge des EDI, les modèles, les aperçus et les limites de l'agent infonuagique peuvent changer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2843784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798064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Consulter les références actuelles sur les fonctionnalités, les modèles, les retraits et les notes des fournisseurs le jour de la séance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13232" y="4014216"/>
            <a:ext cx="246888" cy="246888"/>
          </a:xfrm>
          <a:prstGeom prst="ellipse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3968496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Aucune durée exacte de conservation n'est affirmée; vérifier le service, le canal d'achat, le fournisseur et le contrat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69480" y="1481328"/>
            <a:ext cx="4251960" cy="4187952"/>
          </a:xfrm>
          <a:prstGeom prst="roundRect">
            <a:avLst>
              <a:gd name="adj" fmla="val 1747"/>
            </a:avLst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62088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DD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APPX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98664" y="2304288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9832" y="25054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62288" y="294436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98664" y="3236976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34381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AGIR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62288" y="387705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98664" y="4169664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43708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VÉRIFIER</a:t>
            </a:r>
            <a:endParaRPr lang="en-US" sz="1200" dirty="0"/>
          </a:p>
        </p:txBody>
      </p:sp>
      <p:sp>
        <p:nvSpPr>
          <p:cNvPr id="21" name="Text 19">
            <a:hlinkClick r:id="rId1" tooltip=""/>
          </p:cNvPr>
          <p:cNvSpPr/>
          <p:nvPr/>
        </p:nvSpPr>
        <p:spPr>
          <a:xfrm>
            <a:off x="731520" y="546811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176B87"/>
                </a:solidFill>
                <a:uFill>
                  <a:solidFill>
                    <a:srgbClr val="176B87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https://docs.github.com/en/copilot/reference/copilot-feature-matrix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5870448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E06, E10, E12, E26, E30, E32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4360" y="6327648"/>
            <a:ext cx="10991088" cy="0"/>
          </a:xfrm>
          <a:prstGeom prst="line">
            <a:avLst/>
          </a:prstGeom>
          <a:noFill/>
          <a:ln w="12700">
            <a:solidFill>
              <a:srgbClr val="CAD6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6428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APPX-002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595360" y="64282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Français (Canada) | 2026-10-14 | 34/35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D62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APPX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Références et responsabilité de l'actualité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673352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627632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Responsable du cours : forfaits, capacités et aperçus avant chaque version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2843784"/>
            <a:ext cx="246888" cy="2468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798064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Responsables de la sécurité et de la confidentialité : exclusions, agents, modalités, Centre de confiance et conservation avant la séance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13232" y="4014216"/>
            <a:ext cx="246888" cy="246888"/>
          </a:xfrm>
          <a:prstGeom prst="ellipse">
            <a:avLst/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3968496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Responsable de l'adoption : couverture, délai, attribution et exigences clientes avant les rapports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69480" y="1481328"/>
            <a:ext cx="4251960" cy="4187952"/>
          </a:xfrm>
          <a:prstGeom prst="roundRect">
            <a:avLst>
              <a:gd name="adj" fmla="val 1747"/>
            </a:avLst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62088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DD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APPX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98664" y="2304288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9832" y="25054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62288" y="294436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98664" y="3236976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1E465F"/>
          </a:solidFill>
          <a:ln w="12700">
            <a:solidFill>
              <a:srgbClr val="3760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34381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AGIR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62288" y="387705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98664" y="4169664"/>
            <a:ext cx="3520440" cy="658368"/>
          </a:xfrm>
          <a:prstGeom prst="roundRect">
            <a:avLst>
              <a:gd name="adj" fmla="val 5556"/>
            </a:avLst>
          </a:prstGeom>
          <a:solidFill>
            <a:srgbClr val="2D8C82"/>
          </a:solidFill>
          <a:ln w="12700">
            <a:solidFill>
              <a:srgbClr val="2D8C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43708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VÉRIFIER</a:t>
            </a:r>
            <a:endParaRPr lang="en-US" sz="1200" dirty="0"/>
          </a:p>
        </p:txBody>
      </p:sp>
      <p:sp>
        <p:nvSpPr>
          <p:cNvPr id="21" name="Text 19">
            <a:hlinkClick r:id="rId1" tooltip=""/>
          </p:cNvPr>
          <p:cNvSpPr/>
          <p:nvPr/>
        </p:nvSpPr>
        <p:spPr>
          <a:xfrm>
            <a:off x="731520" y="546811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176B87"/>
                </a:solidFill>
                <a:uFill>
                  <a:solidFill>
                    <a:srgbClr val="176B87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https://docs.github.com/en/copilot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5870448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E20, E21, E22, E26, E31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4360" y="6327648"/>
            <a:ext cx="10991088" cy="0"/>
          </a:xfrm>
          <a:prstGeom prst="line">
            <a:avLst/>
          </a:prstGeom>
          <a:noFill/>
          <a:ln w="12700">
            <a:solidFill>
              <a:srgbClr val="CAD6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6428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APPX-003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595360" y="64282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D6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Français (Canada) | 2026-10-14 | 35/35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D62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devopsabcs-engineering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Fondamentaux de GitHub Copilot Business</dc:title>
  <dc:subject>Governance-aware GitHub Copilot Business course, 2026-10-14</dc:subject>
  <dc:creator>GitHub Copilot Business Fundamentals contributors</dc:creator>
  <cp:lastModifiedBy>GitHub Copilot Business Fundamentals contributors</cp:lastModifiedBy>
  <cp:revision>1</cp:revision>
  <dcterms:created xsi:type="dcterms:W3CDTF">2026-10-15T08:54:46Z</dcterms:created>
  <dcterms:modified xsi:type="dcterms:W3CDTF">2026-10-15T08:54:46Z</dcterms:modified>
</cp:coreProperties>
</file>